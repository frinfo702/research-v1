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68"/>
  </p:normalViewPr>
  <p:slideViewPr>
    <p:cSldViewPr snapToGrid="0" snapToObjects="1">
      <p:cViewPr varScale="1">
        <p:scale>
          <a:sx d="100" n="158"/>
          <a:sy d="100" n="158"/>
        </p:scale>
        <p:origin x="856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D2103-A3C8-274D-80F3-108711FD1DDB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7689"/>
            <a:ext cx="8229600" cy="3906933"/>
          </a:xfrm>
        </p:spPr>
        <p:txBody>
          <a:bodyPr/>
          <a:lstStyle>
            <a:lvl1pPr>
              <a:defRPr sz="19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7E99-6077-1E46-9AEF-B595EE5EEB45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EB79-D017-B344-AADA-3FCDA11E40AC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A905-8617-1A44-930C-8277174A5DC6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529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861192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0933"/>
            <a:ext cx="4040188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861192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70933"/>
            <a:ext cx="4041775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B6E2-9383-1D43-9902-61ED3FD90156}" type="datetime1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0408-1B9C-5A46-B675-262756309232}" type="slidenum">
              <a:rPr lang="en-US" smtClean="0"/>
              <a:pPr/>
              <a:t>‹#›</a:t>
            </a:fld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C6E3-F6D7-2042-BF49-2A03AC5D294E}" type="datetime1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35CD-FE5A-6241-A0D5-5F8D2149AA6D}" type="datetime1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7BBA-F049-244B-AD7E-EEBE0D5BD018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43509-F259-4C45-9B66-8D0CAE6DF935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5EA42-C278-2B40-AF87-894DFC589EFD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0C63-0224-A147-B8C3-5898ED2FF34C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59F6F-14C3-4744-BF6B-F86F388A0C1C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LLaDA (Large Language Diffusion Models)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拡散モデルによる大規模言語モデルの新パラダイム</a:t>
            </a:r>
            <a:br/>
            <a:br/>
            <a:r>
              <a:rPr/>
              <a:t>後藤 健一郎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問題設定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現在の大規模言語モデル (LLM) は</a:t>
            </a:r>
            <a:r>
              <a:rPr b="1"/>
              <a:t>自己回帰モデル (ARM)</a:t>
            </a:r>
            <a:r>
              <a:rPr/>
              <a:t> が主流</a:t>
            </a:r>
          </a:p>
          <a:p>
            <a:pPr lvl="1"/>
            <a:r>
              <a:rPr/>
              <a:t>左から右へトークンを逐次生成する</a:t>
            </a:r>
          </a:p>
          <a:p>
            <a:pPr lvl="1"/>
            <a:r>
              <a:rPr/>
              <a:t>双方向的な文脈の活用や、テキスト全体の整合性確保が構造的に困難</a:t>
            </a:r>
          </a:p>
          <a:p>
            <a:pPr lvl="0"/>
            <a:r>
              <a:rPr/>
              <a:t>テキスト生成に拡散モデルを適用する試みはあったが、スケーラビリティに課題</a:t>
            </a:r>
          </a:p>
          <a:p>
            <a:pPr lvl="1"/>
            <a:r>
              <a:rPr/>
              <a:t>連続拡散モデルは計算が重い（e.g. 1BモデルでARM同等性能に64×）</a:t>
            </a:r>
          </a:p>
          <a:p>
            <a:pPr lvl="1"/>
            <a:r>
              <a:rPr/>
              <a:t>大規模化 (数十億パラメータ) での有効性が未検証だった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新規性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離散的なマスク拡散モデル (Masked Diffusion Model; MDM)</a:t>
            </a:r>
            <a:r>
              <a:rPr/>
              <a:t> を8Bパラメータまでスケール</a:t>
            </a:r>
          </a:p>
          <a:p>
            <a:pPr lvl="1"/>
            <a:r>
              <a:rPr/>
              <a:t>2.3Tトークンで事前学習し、各種ベンチマークで </a:t>
            </a:r>
            <a:r>
              <a:rPr b="1"/>
              <a:t>LLaMA3 8B に匹敵する性能</a:t>
            </a:r>
          </a:p>
          <a:p>
            <a:pPr lvl="0"/>
            <a:r>
              <a:rPr/>
              <a:t>拡散モデルの特性を活かした強みを実証</a:t>
            </a:r>
          </a:p>
          <a:p>
            <a:pPr lvl="1"/>
            <a:r>
              <a:rPr b="1"/>
              <a:t>双方向モデリング</a:t>
            </a:r>
            <a:r>
              <a:rPr/>
              <a:t>: 文脈の前後を同時に考慮した生成が可能</a:t>
            </a:r>
          </a:p>
          <a:p>
            <a:pPr lvl="1"/>
            <a:r>
              <a:rPr b="1"/>
              <a:t>頑健性の向上</a:t>
            </a:r>
            <a:r>
              <a:rPr/>
              <a:t>: ARMが苦手とする逆順テキスト生成 (Reversal) タスクで GPT-4o や Qwen2.5 を上回る</a:t>
            </a:r>
          </a:p>
          <a:p>
            <a:pPr lvl="0"/>
            <a:r>
              <a:rPr/>
              <a:t>MDM向けの </a:t>
            </a:r>
            <a:r>
              <a:rPr b="1"/>
              <a:t>事後学習 (SFT)</a:t>
            </a:r>
            <a:r>
              <a:rPr/>
              <a:t> 手法を提案し、Instruction Followingを強化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アイデア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lphaLcParenBoth"/>
            </a:pPr>
            <a:r>
              <a:rPr/>
              <a:t>事前学習: トークン列をランダムにマスクし、マスクされたトークンを予測する</a:t>
            </a:r>
          </a:p>
          <a:p>
            <a:pPr lvl="0" indent="-342900" marL="342900">
              <a:buAutoNum startAt="2" type="alphaLcParenBoth"/>
            </a:pPr>
            <a:r>
              <a:rPr/>
              <a:t>SFT: プロンプト部分はマスクせず、応答部分のみをマスクして学習</a:t>
            </a:r>
          </a:p>
          <a:p>
            <a:pPr lvl="0" indent="-342900" marL="342900">
              <a:buAutoNum startAt="3" type="alphaLcParenBoth"/>
            </a:pPr>
            <a:r>
              <a:rPr/>
              <a:t>推論: 全トークンがマスクされた状態から、段階的にマスクを除去して文章を生成。その際、一様な確率で再度マスクする処理を加える</a:t>
            </a:r>
          </a:p>
        </p:txBody>
      </p:sp>
      <p:pic>
        <p:nvPicPr>
          <p:cNvPr descr="figures/overview_of_llad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84300"/>
            <a:ext cx="5105400" cy="151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LLaDAの概要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メカニズム: 前方過程 (Forward Process)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元のトークン列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x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に対し、マスク率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U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でランダムにマスクを適用</a:t>
                </a:r>
              </a:p>
              <a:p>
                <a:pPr lvl="0"/>
                <a:r>
                  <a:rPr/>
                  <a:t>ある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を固定したとき、各位置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について </a:t>
                </a:r>
                <a14:m>
                  <m:oMath xmlns:m="http://schemas.openxmlformats.org/officeDocument/2006/math">
                    <m:sSubSup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  <m:sup>
                        <m:r>
                          <m:t>i</m:t>
                        </m:r>
                      </m:sup>
                    </m:sSubSup>
                  </m:oMath>
                </a14:m>
                <a:r>
                  <a:rPr/>
                  <a:t> は確率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で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になり、確率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</m:oMath>
                </a14:m>
                <a:r>
                  <a:rPr/>
                  <a:t> で </a:t>
                </a:r>
                <a14:m>
                  <m:oMath xmlns:m="http://schemas.openxmlformats.org/officeDocument/2006/math">
                    <m:sSubSup>
                      <m:e>
                        <m:r>
                          <m:t>x</m:t>
                        </m:r>
                      </m:e>
                      <m:sub>
                        <m:r>
                          <m:t>0</m:t>
                        </m:r>
                      </m:sub>
                      <m:sup>
                        <m:r>
                          <m:t>i</m:t>
                        </m:r>
                      </m:sup>
                    </m:sSubSup>
                  </m:oMath>
                </a14:m>
                <a:r>
                  <a:rPr/>
                  <a:t> のまま残る</a:t>
                </a:r>
              </a:p>
              <a:p>
                <a:pPr lvl="1"/>
                <a:r>
                  <a:rPr/>
                  <a:t>各トークンは独立に確率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で </a:t>
                </a:r>
                <a:r>
                  <a:rPr>
                    <a:latin typeface="Courier"/>
                  </a:rPr>
                  <a:t>[MASK]</a:t>
                </a:r>
                <a:r>
                  <a:rPr/>
                  <a:t> に置換される</a:t>
                </a:r>
              </a:p>
              <a:p>
                <a:pPr lvl="1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: 元のトークン列（マスクなし）</a:t>
                </a:r>
              </a:p>
              <a:p>
                <a:pPr lvl="1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: 全トークンがマスク（完全ノイズ）</a:t>
                </a:r>
              </a:p>
              <a:p>
                <a:pPr lvl="0"/>
                <a:r>
                  <a:rPr/>
                  <a:t>“diffusion”とついているが、各ステップでガウシアンノイズを足していく連続拡散モデル（DDPM等）とは異なる</a:t>
                </a:r>
              </a:p>
              <a:p>
                <a:pPr lvl="1"/>
                <a:r>
                  <a:rPr/>
                  <a:t>Forward Processが離散的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メカニズム: 逆過程 (Reverse Process)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ニューラルネットワーク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θ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m:t>x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|</m:t>
                        </m:r>
                        <m:sSub>
                          <m:e>
                            <m:r>
                              <m:rPr>
                                <m:sty m:val="b"/>
                              </m:rP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を用いて、マスクされたトークンを予測</a:t>
                </a:r>
              </a:p>
              <a:p>
                <a:pPr lvl="0"/>
                <a:r>
                  <a:rPr/>
                  <a:t>推論時の手順</a:t>
                </a:r>
              </a:p>
              <a:p>
                <a:pPr lvl="1" indent="-342900" marL="685800">
                  <a:buAutoNum type="arabicPeriod"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（全マスク）からスタート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各ステップでマスク位置のトークンを予測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予測トークンを一度サンプルした後、次の時刻に合わせて一部を再マスク (</a:t>
                </a:r>
                <a:r>
                  <a:rPr b="1"/>
                  <a:t>remasking</a:t>
                </a:r>
                <a:r>
                  <a:rPr/>
                  <a:t>)</a:t>
                </a:r>
              </a:p>
              <a:p>
                <a:pPr lvl="1"/>
                <a:r>
                  <a:rPr/>
                  <a:t>低確信度のトークンほど再マスクされやすい（後のステップで修正の余地を残す）</a:t>
                </a:r>
              </a:p>
              <a:p>
                <a:pPr lvl="1" indent="-342900" marL="685800">
                  <a:buAutoNum startAt="4" type="arabicPeriod"/>
                </a:pP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ステップ後に完全なテキスト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x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を得る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メカニズム: 目的関数 (NLL上界の最小化)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script"/>
                        </m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rPr>
                              <m:sty m:val="p"/>
                              <m:scr m:val="double-struck"/>
                            </m:rPr>
                            <m:t>E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t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b"/>
                                </m:rPr>
                                <m:t>1</m:t>
                              </m:r>
                            </m:e>
                          </m:nary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bSup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  <m:sup>
                                  <m:r>
                                    <m:t>i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M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log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θ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Sup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i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x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各項の役割</a:t>
                </a: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t</m:t>
                        </m:r>
                      </m:den>
                    </m:f>
                  </m:oMath>
                </a14:m>
                <a:r>
                  <a:rPr/>
                  <a:t>: マスク率が低い（ほぼ完成に近い）ステップほど重みが大きい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sSubSup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  <m:sup>
                            <m:r>
                              <m:t>i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=</m:t>
                        </m:r>
                        <m:r>
                          <m:rPr>
                            <m:nor/>
                            <m:sty m:val="p"/>
                          </m:rPr>
                          <m:t>M</m:t>
                        </m:r>
                      </m:e>
                    </m:d>
                  </m:oMath>
                </a14:m>
                <a:r>
                  <a:rPr/>
                  <a:t>: マスクされた位置のみを予測対象とする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θ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Sup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  <m:sup>
                            <m:r>
                              <m:t>i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|</m:t>
                        </m:r>
                        <m:sSub>
                          <m:e>
                            <m:r>
                              <m:rPr>
                                <m:sty m:val="b"/>
                              </m:rP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: 各マスク位置の交差エントロピー損失</a:t>
                </a:r>
              </a:p>
              <a:p>
                <a:pPr lvl="0" indent="0" marL="0">
                  <a:buNone/>
                </a:pPr>
                <a:r>
                  <a:rPr/>
                  <a:t>ARMの次トークン予測損失の自然な拡張とみなせる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メカニズム: 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LLaMAと同様Transformerをバックボーンとして使用</a:t>
            </a:r>
          </a:p>
          <a:p>
            <a:pPr lvl="1"/>
            <a:r>
              <a:rPr/>
              <a:t>multi-head attention を採用（ARMの causal mask は使わない）</a:t>
            </a:r>
          </a:p>
          <a:p>
            <a:pPr lvl="0"/>
            <a:r>
              <a:rPr/>
              <a:t>モデルサイズ: 1B / 8B の2段階で検証</a:t>
            </a:r>
          </a:p>
          <a:p>
            <a:pPr lvl="0"/>
            <a:r>
              <a:rPr/>
              <a:t>学習データ: 2.3Tトークン (英語・中国語・コード)で事前学習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スケーラビリティ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FLOPsの増加に伴い、LLaDAの性能はARMベースラインと同様のスケーリング則に従う</a:t>
            </a:r>
          </a:p>
          <a:p>
            <a:pPr lvl="0"/>
            <a:r>
              <a:rPr/>
              <a:t>MMLU、GSM8Kで特に高いscalability</a:t>
            </a:r>
          </a:p>
          <a:p>
            <a:pPr lvl="0"/>
            <a:r>
              <a:rPr/>
              <a:t>比較的ARMに劣るPIQAでもスケールに伴い改善傾向</a:t>
            </a:r>
          </a:p>
        </p:txBody>
      </p:sp>
      <p:pic>
        <p:nvPicPr>
          <p:cNvPr descr="figures/scalability_of_llad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スケーラビリティ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事前学習モデルのベンチマーク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LLaDA 8B Base は MMLU (65.9)、TruthfulQA (46.1)、Math (31.4) などで </a:t>
            </a:r>
            <a:r>
              <a:rPr b="1"/>
              <a:t>LLaMA3 8B を上回る</a:t>
            </a:r>
          </a:p>
          <a:p>
            <a:pPr lvl="0"/>
            <a:r>
              <a:rPr/>
              <a:t>CMMLU (69.9)、C-Eval (70.5) の中国語タスクで最高スコア</a:t>
            </a:r>
          </a:p>
          <a:p>
            <a:pPr lvl="0"/>
            <a:r>
              <a:rPr/>
              <a:t>HumanEval-FIM (73.8) で fill-in-the-middle タスクに特に強い（双方向モデリングの恩恵）</a:t>
            </a:r>
          </a:p>
        </p:txBody>
      </p:sp>
      <p:pic>
        <p:nvPicPr>
          <p:cNvPr descr="figures/benchmark_results_of_pre_trained_ll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事前学習モデルのベンチマーク結果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事後学習モデルのベンチマーク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SFTのみ (4.5Mペア、RLなし) ではほとんどの下流タスクで性能改善</a:t>
            </a:r>
          </a:p>
          <a:p>
            <a:pPr lvl="0"/>
            <a:r>
              <a:rPr/>
              <a:t>ARC-C (88.5) で全モデル中最高スコア</a:t>
            </a:r>
          </a:p>
          <a:p>
            <a:pPr lvl="0"/>
            <a:r>
              <a:rPr/>
              <a:t>GPQA (33.3)、Math (31.9) で LLaMA3 8B Instruct を上回る</a:t>
            </a:r>
          </a:p>
          <a:p>
            <a:pPr lvl="0"/>
            <a:r>
              <a:rPr/>
              <a:t>MMLU は低下するおり、SFTデータ品質が最適でない可能性が示唆されている</a:t>
            </a:r>
          </a:p>
        </p:txBody>
      </p:sp>
      <p:pic>
        <p:nvPicPr>
          <p:cNvPr descr="figures/benchmark_results_of_post_trained_ll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事後学習モデルのベンチマーク結果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総合比較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左: Base モデル、右: Instruct モデルのレーダーチャート</a:t>
            </a:r>
          </a:p>
          <a:p>
            <a:pPr lvl="0"/>
            <a:r>
              <a:rPr/>
              <a:t>LLaDA 8B は Base・Instruct ともに LLaMA2 7B を大きく上回り、LLaMA3 8B と同等</a:t>
            </a:r>
          </a:p>
        </p:txBody>
      </p:sp>
      <p:pic>
        <p:nvPicPr>
          <p:cNvPr descr="figures/zero_few-shot_benchmark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Zero/Few-shot ベンチマーク総合比較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頑健性 (Reversal タスク)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Forward（通常方向の補完）ではGPT-4oが優位</a:t>
            </a:r>
          </a:p>
          <a:p>
            <a:pPr lvl="0"/>
            <a:r>
              <a:rPr b="1"/>
              <a:t>Reversal（逆順の補完）では LLaDA が GPT-4o、Qwen2.5 を大幅に上回る (45.6)</a:t>
            </a:r>
          </a:p>
          <a:p>
            <a:pPr lvl="0"/>
            <a:r>
              <a:rPr/>
              <a:t>ARMは左→右の生成に特化しており逆方向が苦手だが、MDMは双方向的に生成できるため頑健</a:t>
            </a:r>
          </a:p>
        </p:txBody>
      </p:sp>
      <p:pic>
        <p:nvPicPr>
          <p:cNvPr descr="figures/comparison_on_the_poem_completion_t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詩の補完タスクにおける比較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実験結果: サンプリング過程の可視化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数学問題に対し、複数ステップで徐々にトークンが確定していく様子(暗いほど後のステップ)</a:t>
            </a:r>
          </a:p>
          <a:p>
            <a:pPr lvl="0"/>
            <a:r>
              <a:rPr/>
              <a:t>マルチターンの対話も適切に処理可能（翻訳、詩の生成など）</a:t>
            </a:r>
          </a:p>
        </p:txBody>
      </p:sp>
      <p:pic>
        <p:nvPicPr>
          <p:cNvPr descr="figures/visualization_of_the_sampling_process_and_a_generated_multi_round_dialog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サンプリング過程とマルチターン対話の例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制限事項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生成長の事前指定が必要</a:t>
            </a:r>
            <a:r>
              <a:rPr/>
              <a:t>: 生成長をハイパーパラメータとして与える必要があり、適応的な長さ決定機構がない</a:t>
            </a:r>
          </a:p>
          <a:p>
            <a:pPr lvl="1"/>
            <a:r>
              <a:rPr/>
              <a:t>ただし可変長データで学習しており、設定した長さへの感度は大きくない（生成後にEOS以降を破棄できる）</a:t>
            </a:r>
          </a:p>
          <a:p>
            <a:pPr lvl="0"/>
            <a:r>
              <a:rPr b="1"/>
              <a:t>計算リソースの制約</a:t>
            </a:r>
            <a:r>
              <a:rPr/>
              <a:t>: 最先端ARMと同規模 (70B以上) へのスケーリングは未検証</a:t>
            </a:r>
          </a:p>
          <a:p>
            <a:pPr lvl="0"/>
            <a:r>
              <a:rPr b="1"/>
              <a:t>推論効率</a:t>
            </a:r>
            <a:r>
              <a:rPr/>
              <a:t>: MDM専用のattention機構やKV cache等の最適化が未導入</a:t>
            </a:r>
          </a:p>
          <a:p>
            <a:pPr lvl="1"/>
            <a:r>
              <a:rPr/>
              <a:t>全文を同時更新するので、自己回帰みたいにprefixを固定してのcacheが効きにくい</a:t>
            </a:r>
          </a:p>
          <a:p>
            <a:pPr lvl="0"/>
            <a:r>
              <a:rPr b="1"/>
              <a:t>RLによる性能向上が未実施</a:t>
            </a:r>
            <a:r>
              <a:rPr/>
              <a:t>: 既存ARMベースLLMでは SFT + RL が標準だが、MDM向けのRL手法が未確立</a:t>
            </a:r>
          </a:p>
          <a:p>
            <a:pPr lvl="0"/>
            <a:r>
              <a:rPr b="1"/>
              <a:t>マルチモーダル対応</a:t>
            </a:r>
            <a:r>
              <a:rPr/>
              <a:t>: 画像・音声等への拡張は今後の課題</a:t>
            </a:r>
          </a:p>
          <a:p>
            <a:pPr lvl="0"/>
            <a:r>
              <a:rPr b="1"/>
              <a:t>事後学習手法の発展余地</a:t>
            </a:r>
            <a:r>
              <a:rPr/>
              <a:t>: MDM固有の alignment 手法（RLHF/DPO相当）の開発が必要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LLaDA は</a:t>
            </a:r>
            <a:r>
              <a:rPr b="1"/>
              <a:t>マスク拡散モデルを8Bパラメータまでスケール</a:t>
            </a:r>
            <a:r>
              <a:rPr/>
              <a:t>し、ARMベースのLLMに匹敵する性能を実証した初の研究</a:t>
            </a:r>
          </a:p>
          <a:p>
            <a:pPr lvl="0"/>
            <a:r>
              <a:rPr/>
              <a:t>双方向モデリングにより、</a:t>
            </a:r>
            <a:r>
              <a:rPr b="1"/>
              <a:t>fill-in-the-middle や逆順生成で ARM を上回る</a:t>
            </a:r>
            <a:r>
              <a:rPr/>
              <a:t>独自の強みを持つ</a:t>
            </a:r>
          </a:p>
          <a:p>
            <a:pPr lvl="0"/>
            <a:r>
              <a:rPr/>
              <a:t>拡散モデルベースの言語モデルが、ARMの代替パラダイムとなり得る可能性を示した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参考情報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Nie, S., Zhu, F., Liang, Z., Chen, H., Li, D., Lu, Z., &amp; Li, C. (2025). Large Language Diffusion Models. </a:t>
            </a:r>
            <a:r>
              <a:rPr i="1"/>
              <a:t>arXiv preprint arXiv:2502.09992</a:t>
            </a:r>
            <a:r>
              <a:rPr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66</Words>
  <Application>Microsoft Macintosh PowerPoint</Application>
  <PresentationFormat>On-screen Show (16:9)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Presentation Title</vt:lpstr>
      <vt:lpstr>Title and content</vt:lpstr>
      <vt:lpstr>Selection header</vt:lpstr>
      <vt:lpstr>Title for two-content</vt:lpstr>
      <vt:lpstr>Comparison</vt:lpstr>
      <vt:lpstr># Title for content with caption</vt:lpstr>
      <vt:lpstr>#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LLaDA (Large Language Diffusion Models)</dc:title>
  <dc:creator>後藤 健一郎</dc:creator>
  <cp:keywords/>
  <dcterms:created xsi:type="dcterms:W3CDTF">2026-02-09T08:21:03Z</dcterms:created>
  <dcterms:modified xsi:type="dcterms:W3CDTF">2026-02-09T08:21:03Z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拡散モデルによる大規模言語モデルの新パラダイム</vt:lpwstr>
  </property>
  <property fmtid="{D5CDD505-2E9C-101B-9397-08002B2CF9AE}" pid="10" name="toc-title">
    <vt:lpwstr>目次</vt:lpwstr>
  </property>
</Properties>
</file>